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ter" panose="02000503000000020004" pitchFamily="2" charset="0"/>
      <p:regular r:id="rId17"/>
    </p:embeddedFont>
    <p:embeddedFont>
      <p:font typeface="Inter Bold" panose="02000503000000020004" pitchFamily="2" charset="0"/>
      <p:regular r:id="rId18"/>
      <p:bold r:id="rId19"/>
    </p:embeddedFont>
    <p:embeddedFont>
      <p:font typeface="Petrona Bold" pitchFamily="2" charset="77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9324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012726"/>
            <a:ext cx="3405598" cy="287139"/>
          </a:xfrm>
          <a:prstGeom prst="roundRect">
            <a:avLst>
              <a:gd name="adj" fmla="val 22118"/>
            </a:avLst>
          </a:prstGeom>
          <a:solidFill>
            <a:srgbClr val="E0D7F4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1069380"/>
            <a:ext cx="378837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TÓPICOS EN CIENCIAS DE LA COMPUTACIÓN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375470"/>
            <a:ext cx="6296860" cy="1299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50" b="1" kern="0" spc="-82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Regionalización de Centros Poblados del Perú</a:t>
            </a:r>
            <a:endParaRPr lang="en-US" sz="4050" dirty="0"/>
          </a:p>
        </p:txBody>
      </p:sp>
      <p:sp>
        <p:nvSpPr>
          <p:cNvPr id="6" name="Text 3"/>
          <p:cNvSpPr/>
          <p:nvPr/>
        </p:nvSpPr>
        <p:spPr>
          <a:xfrm>
            <a:off x="661475" y="2958306"/>
            <a:ext cx="6296860" cy="1634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Clustering K-Means sobre datos del INEI/IGN -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153,400 centros poblados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Docente: Peter Jonathan Montalvo Garcia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endParaRPr lang="en-US" sz="1450" b="1" kern="0" spc="-30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Integrantes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61475" y="4805859"/>
            <a:ext cx="6296860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Camila Adriana Ibarra Cabrera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Lizbeth Teresita Olivera Alvarez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Sofia Gabriel Miranda Cardenas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2034132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623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576461"/>
            <a:ext cx="241690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TEMA DE INVESTIGACIÓN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882551"/>
            <a:ext cx="10868745" cy="1299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50" b="1" kern="0" spc="-82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Regionalización geográfica del Perú mediante K-Means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661475" y="246538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Identificar brechas de acceso a servicios educativos a partir de la geografía y altitud de los centros poblados.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980432"/>
            <a:ext cx="5339820" cy="1736328"/>
          </a:xfrm>
          <a:prstGeom prst="roundRect">
            <a:avLst>
              <a:gd name="adj" fmla="val 4572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6832" y="3175794"/>
            <a:ext cx="4949106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4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6832" y="3614142"/>
            <a:ext cx="4949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Brecha educativa entre zonas del Perú, sin método automático para identificar zonas de baja cobertura más allá del departamento.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2980432"/>
            <a:ext cx="5339919" cy="1736328"/>
          </a:xfrm>
          <a:prstGeom prst="roundRect">
            <a:avLst>
              <a:gd name="adj" fmla="val 4572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5658" y="3175794"/>
            <a:ext cx="4949205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4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Técnica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85658" y="3614142"/>
            <a:ext cx="49492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 no supervisado sobre ubicación y altitud, contrastado con CON_IE (cobertura educativa), variable no usada en el clustering.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905772"/>
            <a:ext cx="5339820" cy="1433909"/>
          </a:xfrm>
          <a:prstGeom prst="roundRect">
            <a:avLst>
              <a:gd name="adj" fmla="val 5536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5101134"/>
            <a:ext cx="4949106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4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Método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56832" y="5539482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Estandarización → método del codo (k=4) → K-Means → cálculo de cobertura educativa por cluster.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4905772"/>
            <a:ext cx="5339919" cy="1433909"/>
          </a:xfrm>
          <a:prstGeom prst="roundRect">
            <a:avLst>
              <a:gd name="adj" fmla="val 5536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5658" y="5101134"/>
            <a:ext cx="4949205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4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Contexto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85658" y="5539482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Geografía computacional sobre datos abiertos del INEI/IGN para focalizar política educativa.</a:t>
            </a:r>
            <a:endParaRPr lang="en-US" sz="145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18F9740-39FB-1109-EC61-61087A503BDF}"/>
              </a:ext>
            </a:extLst>
          </p:cNvPr>
          <p:cNvSpPr/>
          <p:nvPr/>
        </p:nvSpPr>
        <p:spPr>
          <a:xfrm>
            <a:off x="10982528" y="6498077"/>
            <a:ext cx="1209472" cy="359923"/>
          </a:xfrm>
          <a:prstGeom prst="rect">
            <a:avLst/>
          </a:prstGeom>
          <a:solidFill>
            <a:srgbClr val="FDF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3349"/>
            <a:ext cx="827563" cy="229691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623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2159" y="648692"/>
            <a:ext cx="125578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kern="0" spc="-24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81360"/>
            <a:ext cx="10868745" cy="519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65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Objetivos de la Investigación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582440"/>
            <a:ext cx="10868745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i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 GENERAL: </a:t>
            </a:r>
            <a:r>
              <a:rPr lang="en-US" sz="14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Agrupar los centros poblados del Perú en zonas geográficas coherentes mediante K-Means, usando solo ubicación y altitud.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262783"/>
            <a:ext cx="10868745" cy="907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6356" y="257462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406291" y="2433042"/>
            <a:ext cx="9953674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Preparar el dataset  y ajustar con el número óptimo de clusters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06291" y="2765524"/>
            <a:ext cx="995367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Utilizar datos del INEI/IGN y ajustar el numero optimo de k mediante el método del codo y el silhouette score.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290987"/>
            <a:ext cx="10868745" cy="9072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6356" y="360283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1406291" y="3461246"/>
            <a:ext cx="9953674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Interpretar geográficamente los clusters resultantes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406291" y="3793728"/>
            <a:ext cx="995367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Observar caracteristicas como centroides, tamaño y nombres descriptivos.</a:t>
            </a:r>
            <a:endParaRPr lang="en-US" sz="11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319191"/>
            <a:ext cx="10868745" cy="9072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6356" y="463103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1406291" y="4489450"/>
            <a:ext cx="9953674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Determinar la variación entre la cobertura de instituciones educativas y la condición de capital 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406291" y="4821932"/>
            <a:ext cx="995367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la magnitud de la variación de las variables sin haberlas usado en el clustering.</a:t>
            </a:r>
            <a:endParaRPr lang="en-US" sz="11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347395"/>
            <a:ext cx="10868745" cy="9072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6356" y="5659239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1406291" y="5517654"/>
            <a:ext cx="9953674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Visualizar los resultados en gráficos GNU Plot 2D y 3D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406291" y="5850136"/>
            <a:ext cx="995367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Dedicar un grafico a la brecha de cobertura educativa.</a:t>
            </a:r>
            <a:endParaRPr lang="en-US" sz="1150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039428E-7D17-FBF2-4098-037F6E62CC4A}"/>
              </a:ext>
            </a:extLst>
          </p:cNvPr>
          <p:cNvSpPr/>
          <p:nvPr/>
        </p:nvSpPr>
        <p:spPr>
          <a:xfrm>
            <a:off x="10982528" y="6498077"/>
            <a:ext cx="1209472" cy="359923"/>
          </a:xfrm>
          <a:prstGeom prst="rect">
            <a:avLst/>
          </a:prstGeom>
          <a:solidFill>
            <a:srgbClr val="FDF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3298"/>
            <a:ext cx="1062309" cy="229691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623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2159" y="718641"/>
            <a:ext cx="149052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kern="0" spc="-24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JUSTIFICACIÓN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159966"/>
            <a:ext cx="5249930" cy="415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 spc="-52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Por qué regionalizar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696740"/>
            <a:ext cx="524993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departamento, provincia o distrito puede combinar internamente zonas con condiciones geográficas muy distintas, lo que dificulta identificar con precisión dónde se concentra realmente la brecha educativa.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86640" y="1159966"/>
            <a:ext cx="5249930" cy="415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 spc="-52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Por qué K-Means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286640" y="1696740"/>
            <a:ext cx="524993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simple, interpretable y eficiente: procesa los 153,400 centros poblados en menos de un minuto. Una línea base razonable antes de algoritmos más complejos (DBSCAN, clustering espectral).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97342" y="2670274"/>
            <a:ext cx="4286937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b="1" kern="0" spc="-79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—</a:t>
            </a:r>
            <a:endParaRPr lang="en-US" sz="3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907" y="3335635"/>
            <a:ext cx="1315905" cy="13159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07317" y="2670274"/>
            <a:ext cx="4286937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b="1" kern="0" spc="-79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—</a:t>
            </a:r>
            <a:endParaRPr lang="en-US" sz="3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590" y="3335635"/>
            <a:ext cx="1292391" cy="12924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97342" y="4969073"/>
            <a:ext cx="4286937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b="1" kern="0" spc="-79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88.1% de primarias</a:t>
            </a:r>
            <a:endParaRPr lang="en-US" sz="3900" dirty="0"/>
          </a:p>
        </p:txBody>
      </p:sp>
      <p:sp>
        <p:nvSpPr>
          <p:cNvPr id="13" name="Text 9"/>
          <p:cNvSpPr/>
          <p:nvPr/>
        </p:nvSpPr>
        <p:spPr>
          <a:xfrm>
            <a:off x="661475" y="5634434"/>
            <a:ext cx="5358770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tienen infraestructura inadecuada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1475" y="5966916"/>
            <a:ext cx="535877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i="1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MINEDU 2024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707317" y="4969073"/>
            <a:ext cx="4286937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b="1" kern="0" spc="-79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21.6% de IE</a:t>
            </a:r>
            <a:endParaRPr lang="en-US" sz="3900" dirty="0"/>
          </a:p>
        </p:txBody>
      </p:sp>
      <p:sp>
        <p:nvSpPr>
          <p:cNvPr id="16" name="Text 12"/>
          <p:cNvSpPr/>
          <p:nvPr/>
        </p:nvSpPr>
        <p:spPr>
          <a:xfrm>
            <a:off x="6171450" y="5634434"/>
            <a:ext cx="5358770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 concentran en solo 7 UGEL de Lima Metropolitana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171450" y="5966916"/>
            <a:ext cx="535877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i="1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MINEDU 2024</a:t>
            </a:r>
            <a:endParaRPr lang="en-US" sz="115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247E63D-296C-8C5C-CB62-BBE39069AC2D}"/>
              </a:ext>
            </a:extLst>
          </p:cNvPr>
          <p:cNvSpPr/>
          <p:nvPr/>
        </p:nvSpPr>
        <p:spPr>
          <a:xfrm>
            <a:off x="10982528" y="6498077"/>
            <a:ext cx="1209472" cy="359923"/>
          </a:xfrm>
          <a:prstGeom prst="rect">
            <a:avLst/>
          </a:prstGeom>
          <a:solidFill>
            <a:srgbClr val="FDF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02540"/>
            <a:ext cx="995635" cy="243979"/>
          </a:xfrm>
          <a:prstGeom prst="roundRect">
            <a:avLst>
              <a:gd name="adj" fmla="val 22126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757814" y="450661"/>
            <a:ext cx="1412542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01089"/>
            <a:ext cx="10868745" cy="552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kern="0" spc="-7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Mapa de Clusters: Distribución Geográfica (k=4)</a:t>
            </a:r>
            <a:endParaRPr lang="en-US" sz="3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29" y="1356031"/>
            <a:ext cx="3953464" cy="51381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31923" y="2825660"/>
            <a:ext cx="6604548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5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Zonas identificadas por K-Means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931923" y="3238311"/>
            <a:ext cx="6604548" cy="1094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kern="0" spc="-25" dirty="0">
                <a:solidFill>
                  <a:srgbClr val="3B7A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Verde — Sierra sur:</a:t>
            </a: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Puno, Cusco, Ayacucho — alta altitud.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kern="0" spc="-25" dirty="0">
                <a:solidFill>
                  <a:srgbClr val="2980B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Azul — Norte:</a:t>
            </a: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Cajamarca, San Martín, Piura — altitud media-baja.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kern="0" spc="-25" dirty="0">
                <a:solidFill>
                  <a:srgbClr val="F444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Rojo— Sierra centro:</a:t>
            </a:r>
            <a:r>
              <a:rPr lang="en-US" sz="1250" kern="0" spc="-25" dirty="0">
                <a:solidFill>
                  <a:srgbClr val="F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Áncash, Huancavelica, Huánuco — alta altitud.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kern="0" spc="-25" dirty="0">
                <a:solidFill>
                  <a:srgbClr val="8E44A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Morado — Centro-costa:</a:t>
            </a: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Lima, Ica, Junín — baja altitud.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931923" y="4455229"/>
            <a:ext cx="614788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clusters reproducen patrones geográficos reales sin usar la etiqueta de departamento.</a:t>
            </a:r>
            <a:endParaRPr lang="en-US" sz="125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FA76CD4-3B59-507E-7459-EC11308C312B}"/>
              </a:ext>
            </a:extLst>
          </p:cNvPr>
          <p:cNvSpPr/>
          <p:nvPr/>
        </p:nvSpPr>
        <p:spPr>
          <a:xfrm>
            <a:off x="10982528" y="6498077"/>
            <a:ext cx="1209472" cy="359923"/>
          </a:xfrm>
          <a:prstGeom prst="rect">
            <a:avLst/>
          </a:prstGeom>
          <a:solidFill>
            <a:srgbClr val="FDF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8080"/>
            <a:ext cx="1021729" cy="243979"/>
          </a:xfrm>
          <a:prstGeom prst="roundRect">
            <a:avLst>
              <a:gd name="adj" fmla="val 22126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757814" y="596201"/>
            <a:ext cx="1438636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46629"/>
            <a:ext cx="10868745" cy="1104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kern="0" spc="-7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Tamaño de los Clusters entre los 153,400 Centros Poblados</a:t>
            </a:r>
            <a:endParaRPr lang="en-US" sz="3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30" y="2005702"/>
            <a:ext cx="5642719" cy="43934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66170" y="2292445"/>
            <a:ext cx="4970400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5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Distribución del territorio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566170" y="2705095"/>
            <a:ext cx="4970400" cy="1073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Sierra sur</a:t>
            </a: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(54,580 · 35.6%) y </a:t>
            </a:r>
            <a:r>
              <a:rPr 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Sierra centro</a:t>
            </a: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(46,884 · 30.6%) concentran cerca del </a:t>
            </a:r>
            <a:r>
              <a:rPr 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66%</a:t>
            </a: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todos los centros poblados del país.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Centro-costa</a:t>
            </a: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(19,471 · 12.7%) es el grupo más pequeño, pese a incluir la capital del país.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66170" y="3932431"/>
            <a:ext cx="4970400" cy="801291"/>
          </a:xfrm>
          <a:prstGeom prst="roundRect">
            <a:avLst>
              <a:gd name="adj" fmla="val 8421"/>
            </a:avLst>
          </a:prstGeom>
          <a:solidFill>
            <a:srgbClr val="E0D7F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766" y="4252758"/>
            <a:ext cx="190539" cy="160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53316" y="4095349"/>
            <a:ext cx="4322622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concentración en zonas de alta altitud refleja la dispersión poblacional andina del Perú.</a:t>
            </a:r>
            <a:endParaRPr lang="en-US" sz="125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363E5B2-BD9A-4D81-7929-6023CA3C75FF}"/>
              </a:ext>
            </a:extLst>
          </p:cNvPr>
          <p:cNvSpPr/>
          <p:nvPr/>
        </p:nvSpPr>
        <p:spPr>
          <a:xfrm>
            <a:off x="10982528" y="6498077"/>
            <a:ext cx="1209472" cy="359923"/>
          </a:xfrm>
          <a:prstGeom prst="rect">
            <a:avLst/>
          </a:prstGeom>
          <a:solidFill>
            <a:srgbClr val="FDF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05059"/>
            <a:ext cx="1142773" cy="272752"/>
          </a:xfrm>
          <a:prstGeom prst="roundRect">
            <a:avLst>
              <a:gd name="adj" fmla="val 22121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769125" y="458836"/>
            <a:ext cx="1537058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745975"/>
            <a:ext cx="10868745" cy="123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b="1" kern="0" spc="-78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Dispersión 3D con La Altitud como Eje de Separación</a:t>
            </a:r>
            <a:endParaRPr lang="en-US" sz="3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4" y="2099513"/>
            <a:ext cx="5223759" cy="42745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5973" y="2456407"/>
            <a:ext cx="5320497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39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El eje vertical confirma la separación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215973" y="2935634"/>
            <a:ext cx="532049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altitud separa los clusters con la misma claridad que la posición geográfica horizontal.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15973" y="3649314"/>
            <a:ext cx="5320497" cy="1180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Sierra sur y Sierra centro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(verde/rojo): dominan por encima de los 3,000 m.s.n.m.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Norte y Centro-costa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(azul/morado): se mantienen mayormente bajo los 2,000 m.s.n.m.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5973" y="5021212"/>
            <a:ext cx="5320497" cy="956866"/>
          </a:xfrm>
          <a:prstGeom prst="roundRect">
            <a:avLst>
              <a:gd name="adj" fmla="val 7882"/>
            </a:avLst>
          </a:prstGeom>
          <a:solidFill>
            <a:srgbClr val="E0D7F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951" y="5364090"/>
            <a:ext cx="188161" cy="1794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6089" y="5219550"/>
            <a:ext cx="46808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altitud resultó ser un predictor geográfico tan potente como la latitud y longitud.</a:t>
            </a:r>
            <a:endParaRPr lang="en-US" sz="14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3345A6B-84D1-E17F-87EF-236F4359BA2E}"/>
              </a:ext>
            </a:extLst>
          </p:cNvPr>
          <p:cNvSpPr/>
          <p:nvPr/>
        </p:nvSpPr>
        <p:spPr>
          <a:xfrm>
            <a:off x="10982528" y="6498077"/>
            <a:ext cx="1209472" cy="359923"/>
          </a:xfrm>
          <a:prstGeom prst="rect">
            <a:avLst/>
          </a:prstGeom>
          <a:solidFill>
            <a:srgbClr val="FDF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9109"/>
            <a:ext cx="1026392" cy="243979"/>
          </a:xfrm>
          <a:prstGeom prst="roundRect">
            <a:avLst>
              <a:gd name="adj" fmla="val 22126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757814" y="697230"/>
            <a:ext cx="1443299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47658"/>
            <a:ext cx="10868745" cy="552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kern="0" spc="-7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Cobertura Educativa por Cluster con Validación Externa</a:t>
            </a:r>
            <a:endParaRPr lang="en-US" sz="3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58288"/>
            <a:ext cx="5636674" cy="43886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17532" y="1841222"/>
            <a:ext cx="5019038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5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CON_IE como validación externa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517532" y="2253873"/>
            <a:ext cx="5019038" cy="1311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CON_IE </a:t>
            </a:r>
            <a:r>
              <a:rPr 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se usó</a:t>
            </a: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formar los clusters — es una validación independiente del modelo.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geografía y altitud que captura el cluster </a:t>
            </a:r>
            <a:r>
              <a:rPr 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sí predice el acceso a servicios educativos</a:t>
            </a: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la brecha entre Sierra sur (12.7%) y Norte (39.7%) alcanza ~27 puntos porcentuales.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17532" y="3718937"/>
            <a:ext cx="5019038" cy="801291"/>
          </a:xfrm>
          <a:prstGeom prst="roundRect">
            <a:avLst>
              <a:gd name="adj" fmla="val 8421"/>
            </a:avLst>
          </a:prstGeom>
          <a:solidFill>
            <a:srgbClr val="B6FCB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980" y="4039264"/>
            <a:ext cx="192404" cy="160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11016" y="3881854"/>
            <a:ext cx="4364922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Evidencia propia calculada directamente sobre el dataset real del INEI/IGN.</a:t>
            </a:r>
            <a:endParaRPr lang="en-US" sz="125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A7F12BA-9765-E626-4F98-78748D5B4210}"/>
              </a:ext>
            </a:extLst>
          </p:cNvPr>
          <p:cNvSpPr/>
          <p:nvPr/>
        </p:nvSpPr>
        <p:spPr>
          <a:xfrm>
            <a:off x="10982528" y="6498077"/>
            <a:ext cx="1209472" cy="359923"/>
          </a:xfrm>
          <a:prstGeom prst="rect">
            <a:avLst/>
          </a:prstGeom>
          <a:solidFill>
            <a:srgbClr val="FDF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612477"/>
            <a:ext cx="1245859" cy="258465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6237C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35355" y="663476"/>
            <a:ext cx="1651455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kern="0" spc="-27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CONCLUSIONES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233360" y="932160"/>
            <a:ext cx="6296860" cy="5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74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Conclusiones del Estudio</a:t>
            </a:r>
            <a:endParaRPr lang="en-US" sz="3650" dirty="0"/>
          </a:p>
        </p:txBody>
      </p:sp>
      <p:sp>
        <p:nvSpPr>
          <p:cNvPr id="6" name="Shape 3"/>
          <p:cNvSpPr/>
          <p:nvPr/>
        </p:nvSpPr>
        <p:spPr>
          <a:xfrm>
            <a:off x="5233360" y="1746448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9128" y="1804888"/>
            <a:ext cx="5761092" cy="29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37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K-Means regionaliza sin etiquetas administrativas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769128" y="2189063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solo algoritmo simple logra zonas geográficamente coherentes sin usar la etiqueta de departamento.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33360" y="3012380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9128" y="3070820"/>
            <a:ext cx="5761092" cy="29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37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 = 4 justificado objetivamente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769128" y="3454995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método del codo confirmó k=4 (ARI≈0.23, NMI≈0.51 frente a DEP: acuerdo moderado, como se esperaba).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33360" y="4278313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9128" y="4336752"/>
            <a:ext cx="5761092" cy="29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37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 altitud es eje de separación clave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769128" y="4720927"/>
            <a:ext cx="5761092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 importante como la posición geográfica para distinguir los clusters.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233360" y="5285680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9128" y="5344120"/>
            <a:ext cx="5761092" cy="29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37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 regionalización captura una brecha real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769128" y="5728295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CON_IE varía de 12.7% a 39.7% entre clusters , evidencia de que la geografía predice acceso a educación.</a:t>
            </a:r>
            <a:endParaRPr lang="en-US" sz="13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FE1CC3E-639F-A332-88CF-3D4D80893912}"/>
              </a:ext>
            </a:extLst>
          </p:cNvPr>
          <p:cNvSpPr/>
          <p:nvPr/>
        </p:nvSpPr>
        <p:spPr>
          <a:xfrm>
            <a:off x="10982528" y="6498077"/>
            <a:ext cx="1209472" cy="359923"/>
          </a:xfrm>
          <a:prstGeom prst="rect">
            <a:avLst/>
          </a:prstGeom>
          <a:solidFill>
            <a:srgbClr val="FDF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833140"/>
            <a:ext cx="1102590" cy="186630"/>
          </a:xfrm>
          <a:prstGeom prst="roundRect">
            <a:avLst>
              <a:gd name="adj" fmla="val 22119"/>
            </a:avLst>
          </a:prstGeom>
          <a:noFill/>
          <a:ln w="6350">
            <a:solidFill>
              <a:srgbClr val="6237C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06979" y="869950"/>
            <a:ext cx="1564938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kern="0" spc="-19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RECOMENDACIONES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233360" y="1051620"/>
            <a:ext cx="6296860" cy="4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kern="0" spc="-53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Recomendaciones para Trabajos Futuros</a:t>
            </a:r>
            <a:endParaRPr lang="en-US" sz="2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1593652"/>
            <a:ext cx="6296860" cy="10479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8073" y="1685727"/>
            <a:ext cx="147336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kern="0" spc="-19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368890" y="2084983"/>
            <a:ext cx="6025801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27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Priorizar inversión en Sierra sur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368890" y="2343944"/>
            <a:ext cx="602580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brecha de CON_IE (12.7% vs 39.7%) sugiere focalizar infraestructura educativa en esta zona.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721372"/>
            <a:ext cx="6296860" cy="10479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08073" y="2813447"/>
            <a:ext cx="147336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kern="0" spc="-19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5368890" y="3212703"/>
            <a:ext cx="6025801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27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Explorar otros valores de k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368890" y="3471664"/>
            <a:ext cx="602580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Probar k=3 o k=5 y comparar la interpretabilidad geográfica resultante.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849092"/>
            <a:ext cx="6296860" cy="10479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308073" y="3941167"/>
            <a:ext cx="147336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kern="0" spc="-19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5368890" y="4340423"/>
            <a:ext cx="6025801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27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Enriquecer las variables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5368890" y="4599384"/>
            <a:ext cx="602580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Sumar distancia a vías o cobertura de señal al clustering para mayor precisión.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976813"/>
            <a:ext cx="6296860" cy="10479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308073" y="5068888"/>
            <a:ext cx="147336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kern="0" spc="-19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5368890" y="5468144"/>
            <a:ext cx="6025801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27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Complementar, no reemplazar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5368890" y="5727105"/>
            <a:ext cx="602580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Usar la regionalización junto a UGEL y redes de salud existentes, no en su lugar.</a:t>
            </a:r>
            <a:endParaRPr lang="en-US" sz="950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4F1DB2A-B112-8076-2281-E379E5E4073D}"/>
              </a:ext>
            </a:extLst>
          </p:cNvPr>
          <p:cNvSpPr/>
          <p:nvPr/>
        </p:nvSpPr>
        <p:spPr>
          <a:xfrm>
            <a:off x="10982528" y="6498077"/>
            <a:ext cx="1209472" cy="359923"/>
          </a:xfrm>
          <a:prstGeom prst="rect">
            <a:avLst/>
          </a:prstGeom>
          <a:solidFill>
            <a:srgbClr val="FDF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921</Words>
  <Application>Microsoft Macintosh PowerPoint</Application>
  <PresentationFormat>Panorámica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Petrona Bold</vt:lpstr>
      <vt:lpstr>Calibri</vt:lpstr>
      <vt:lpstr>Inter Bold</vt:lpstr>
      <vt:lpstr>Inter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Alumno</cp:lastModifiedBy>
  <cp:revision>2</cp:revision>
  <dcterms:created xsi:type="dcterms:W3CDTF">2026-09-09T00:14:01Z</dcterms:created>
  <dcterms:modified xsi:type="dcterms:W3CDTF">2026-09-09T00:17:36Z</dcterms:modified>
</cp:coreProperties>
</file>